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18" d="100"/>
          <a:sy n="118" d="100"/>
        </p:scale>
        <p:origin x="312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5CFE8-3A70-019B-BEAB-179AB02DB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9FD4F2-8D27-1210-5E5C-95EFD6008A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A5F00-73B5-B5C9-1D79-64B1E4613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A09D6-ECFC-4D5D-996A-E59E4A8C3E3B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47F7B-B354-51A1-BFED-695496E72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D70A6-873C-B1DD-C4F4-5279EB8D7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F27D-49D6-471A-BF60-89B5E51B3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648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5BDE4-13C9-C662-5489-FAB969749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D9F5C-EE2E-51EA-A6F5-58533712A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0BB82-78CC-3E95-51E4-06D492CA3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A09D6-ECFC-4D5D-996A-E59E4A8C3E3B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A4AEF-A420-587E-EA37-3660CABDC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F0F3E-BB2C-0C93-11D9-DE8DA0A47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F27D-49D6-471A-BF60-89B5E51B3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893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F9FB-B1F0-9DFB-FDC7-38CAEC354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7099C4-8D93-46B0-61B2-FFB8F01E5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56F62-5195-5C53-83C0-209C2E20D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A09D6-ECFC-4D5D-996A-E59E4A8C3E3B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7794D-3C19-B675-83D9-B14B50151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4D7A4-FE49-44BE-666F-1BE7A268B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F27D-49D6-471A-BF60-89B5E51B3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767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A0995-B827-C596-0C59-88DE7C5EE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1982C-18ED-341D-99CA-9E768CC08E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CA05D1-2207-0845-7152-34791F9BB2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1D52AA-422C-AB50-6B8F-5CAF77DD9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A09D6-ECFC-4D5D-996A-E59E4A8C3E3B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5615E-B5F6-4B1F-C807-F746994AC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429481-F442-53EE-82A6-9BC629E24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F27D-49D6-471A-BF60-89B5E51B3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740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28EDD-78B0-CF63-267F-92611AB90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A62AD2-C24D-EB45-FB24-6CAEC9834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A10567-7201-5E3D-56A7-84D45F98A2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120F96-1CE7-6372-1BB8-A9B421BB0B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6619C0-921B-94C7-AB88-BA6A1A604E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706AA0-48BB-2603-0FA8-04CA2CCC7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A09D6-ECFC-4D5D-996A-E59E4A8C3E3B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2914AD-D9F2-C2FD-0C14-34D6AEC0B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F390A7-1840-7333-DE92-62807CB9D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F27D-49D6-471A-BF60-89B5E51B3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422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2409A-F789-9CBF-3D13-829E5A6F8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FED50B-6EA7-4870-4A3D-CA0DCBBF0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A09D6-ECFC-4D5D-996A-E59E4A8C3E3B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3BF04-EDA0-7EF5-439E-EEF569864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752689-C0AF-12FC-0C81-E79F732B1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F27D-49D6-471A-BF60-89B5E51B3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308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9B7192-0B77-203A-0F9E-D609A3FEE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A09D6-ECFC-4D5D-996A-E59E4A8C3E3B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07904-3C9D-EF03-0C86-C096E4CF9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38C9EC-467B-A2FC-9559-C19A47B05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F27D-49D6-471A-BF60-89B5E51B3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256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7CEB4-5CDE-2A18-649F-FFE67AFE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5B104-3939-20CE-691C-451CEA742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4CB992-2EBF-151F-DE62-CB41B51D04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587F28-2273-372C-C207-C58E1B2D0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A09D6-ECFC-4D5D-996A-E59E4A8C3E3B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6DA457-3EAC-C4F7-118C-CB0F41EB6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C2047-2674-4DE2-22FA-1329CC388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F27D-49D6-471A-BF60-89B5E51B3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98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A30E2-84E6-DB6D-E060-67980CAEC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0AD268-679A-CFA9-9FC6-7FF0313484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3D92E2-B79C-4F77-9C7E-6A2D8A1DC2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8D4E6-6413-0803-BE2C-481B4AD69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A09D6-ECFC-4D5D-996A-E59E4A8C3E3B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1774BC-C1B6-84C0-28E4-76FAD26AE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6B8462-1D66-1976-FA94-CE18A33B2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F27D-49D6-471A-BF60-89B5E51B3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74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1E86B-1D67-8B2E-79AC-D20ED4D36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7BCD0D-5D52-335C-BC15-67CB0F85A0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32C9C-9F18-20FC-76F4-51C663E3C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A09D6-ECFC-4D5D-996A-E59E4A8C3E3B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2D4DA-DA00-D87E-3D2D-0993F79F6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14C79-E35B-87C0-4F94-53CBB31B1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F27D-49D6-471A-BF60-89B5E51B3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603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FA27FD-A672-9F9D-2BF4-BF029FE04E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E42CC9-E07E-62D4-61E4-ECA2587DB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0A21A-8569-0055-212B-ADFA2D2EC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A09D6-ECFC-4D5D-996A-E59E4A8C3E3B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843DC-11F0-7F73-387D-2F3B108D9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7E68B-281C-6CA2-76FE-3810A8A36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7F27D-49D6-471A-BF60-89B5E51B3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66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13F868-F044-E461-03A5-50921A76F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47D07-AFFE-ACCC-5E6D-62B572B9E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F7BAD-7D6A-BD98-CFFF-4A8675CC8F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BA09D6-ECFC-4D5D-996A-E59E4A8C3E3B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74ADE-EEA3-9845-1178-2E5FFDAE07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CED06-B5CB-7722-2904-913A398926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E7F27D-49D6-471A-BF60-89B5E51B3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582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E6F4C4D-30AD-B589-8A12-44B3EB7E2CB1}"/>
              </a:ext>
            </a:extLst>
          </p:cNvPr>
          <p:cNvSpPr txBox="1"/>
          <p:nvPr/>
        </p:nvSpPr>
        <p:spPr>
          <a:xfrm>
            <a:off x="3562494" y="1124923"/>
            <a:ext cx="2059557" cy="138499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User Profile</a:t>
            </a: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effectLst/>
                <a:latin typeface="Century Gothic" panose="020B0502020202020204" pitchFamily="34" charset="0"/>
              </a:rPr>
              <a:t>user</a:t>
            </a:r>
            <a:r>
              <a:rPr lang="en-US" sz="1400" dirty="0" err="1">
                <a:latin typeface="Century Gothic" panose="020B0502020202020204" pitchFamily="34" charset="0"/>
              </a:rPr>
              <a:t>_</a:t>
            </a:r>
            <a:r>
              <a:rPr lang="en-US" sz="1400" dirty="0" err="1">
                <a:effectLst/>
                <a:latin typeface="Century Gothic" panose="020B0502020202020204" pitchFamily="34" charset="0"/>
              </a:rPr>
              <a:t>id</a:t>
            </a:r>
            <a:r>
              <a:rPr lang="en-US" sz="1400" dirty="0">
                <a:effectLst/>
                <a:latin typeface="Century Gothic" panose="020B0502020202020204" pitchFamily="34" charset="0"/>
              </a:rPr>
              <a:t>(1to1)</a:t>
            </a:r>
            <a:endParaRPr lang="en-US" sz="1400" dirty="0">
              <a:latin typeface="Century Gothic" panose="020B0502020202020204" pitchFamily="34" charset="0"/>
            </a:endParaRP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Address</a:t>
            </a:r>
            <a:endParaRPr lang="en-US" sz="1400" dirty="0">
              <a:latin typeface="Century Gothic" panose="020B0502020202020204" pitchFamily="34" charset="0"/>
            </a:endParaRP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City</a:t>
            </a:r>
            <a:endParaRPr lang="en-US" sz="1400" dirty="0">
              <a:latin typeface="Century Gothic" panose="020B0502020202020204" pitchFamily="34" charset="0"/>
            </a:endParaRP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Country</a:t>
            </a:r>
            <a:endParaRPr lang="en-US" sz="1400" dirty="0">
              <a:latin typeface="Century Gothic" panose="020B0502020202020204" pitchFamily="34" charset="0"/>
            </a:endParaRP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Phone number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45AFC8-2B90-1CEC-AF95-C3CC337B94B2}"/>
              </a:ext>
            </a:extLst>
          </p:cNvPr>
          <p:cNvSpPr txBox="1"/>
          <p:nvPr/>
        </p:nvSpPr>
        <p:spPr>
          <a:xfrm>
            <a:off x="343187" y="1258933"/>
            <a:ext cx="2059557" cy="1600438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Users records</a:t>
            </a: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Id(pk)</a:t>
            </a: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Century Gothic" panose="020B0502020202020204" pitchFamily="34" charset="0"/>
              </a:rPr>
              <a:t>Username</a:t>
            </a: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Century Gothic" panose="020B0502020202020204" pitchFamily="34" charset="0"/>
              </a:rPr>
              <a:t>email</a:t>
            </a: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First Name</a:t>
            </a: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Last name</a:t>
            </a: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Password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C97872-7FBC-5B0F-0EB3-5B85099A8FFA}"/>
              </a:ext>
            </a:extLst>
          </p:cNvPr>
          <p:cNvSpPr txBox="1"/>
          <p:nvPr/>
        </p:nvSpPr>
        <p:spPr>
          <a:xfrm>
            <a:off x="872376" y="3751989"/>
            <a:ext cx="2158041" cy="138499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Author</a:t>
            </a: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Id</a:t>
            </a: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First Name</a:t>
            </a: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Last name</a:t>
            </a: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DOB</a:t>
            </a:r>
            <a:endParaRPr lang="en-US" sz="1400" dirty="0">
              <a:latin typeface="Century Gothic" panose="020B0502020202020204" pitchFamily="34" charset="0"/>
            </a:endParaRP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Year of Death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3D122F-494D-B787-C6E4-7CCA4D57C59F}"/>
              </a:ext>
            </a:extLst>
          </p:cNvPr>
          <p:cNvSpPr txBox="1"/>
          <p:nvPr/>
        </p:nvSpPr>
        <p:spPr>
          <a:xfrm>
            <a:off x="5116135" y="3751988"/>
            <a:ext cx="1796716" cy="1600438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Books</a:t>
            </a: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id</a:t>
            </a: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Title</a:t>
            </a: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Isbn</a:t>
            </a:r>
            <a:endParaRPr lang="en-US" sz="1400" dirty="0">
              <a:latin typeface="Century Gothic" panose="020B0502020202020204" pitchFamily="34" charset="0"/>
            </a:endParaRP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Author (FK)</a:t>
            </a: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Published date</a:t>
            </a: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Genre (M2M)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2A754C-405F-64FB-0336-C9818AC1DF36}"/>
              </a:ext>
            </a:extLst>
          </p:cNvPr>
          <p:cNvSpPr txBox="1"/>
          <p:nvPr/>
        </p:nvSpPr>
        <p:spPr>
          <a:xfrm>
            <a:off x="1333358" y="5976229"/>
            <a:ext cx="1418006" cy="738664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Genre</a:t>
            </a: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Id(PK)</a:t>
            </a: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title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2FEAA4-83A7-EC7C-9E0E-10C7F68D38CE}"/>
              </a:ext>
            </a:extLst>
          </p:cNvPr>
          <p:cNvSpPr txBox="1"/>
          <p:nvPr/>
        </p:nvSpPr>
        <p:spPr>
          <a:xfrm>
            <a:off x="6912851" y="2079030"/>
            <a:ext cx="5023335" cy="646331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Century Gothic" panose="020B0502020202020204" pitchFamily="34" charset="0"/>
              </a:rPr>
              <a:t>Books that belong to Multiple Genre, One Genre can contain multiple Book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effectLst/>
                <a:latin typeface="Century Gothic" panose="020B0502020202020204" pitchFamily="34" charset="0"/>
              </a:rPr>
              <a:t>Many to Many Relationship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7A6237-F46D-7BDB-FBD8-838FEB4A01A6}"/>
              </a:ext>
            </a:extLst>
          </p:cNvPr>
          <p:cNvSpPr txBox="1"/>
          <p:nvPr/>
        </p:nvSpPr>
        <p:spPr>
          <a:xfrm>
            <a:off x="6912851" y="1501577"/>
            <a:ext cx="3978441" cy="46166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Century Gothic" panose="020B0502020202020204" pitchFamily="34" charset="0"/>
              </a:rPr>
              <a:t>Author that Wrote Multiple Books (FK)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effectLst/>
                <a:latin typeface="Century Gothic" panose="020B0502020202020204" pitchFamily="34" charset="0"/>
              </a:rPr>
              <a:t>One to Many Relationship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0F33DB-7C88-8BFA-74A2-73618A708FF7}"/>
              </a:ext>
            </a:extLst>
          </p:cNvPr>
          <p:cNvSpPr txBox="1"/>
          <p:nvPr/>
        </p:nvSpPr>
        <p:spPr>
          <a:xfrm>
            <a:off x="6912851" y="924124"/>
            <a:ext cx="2774566" cy="46166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latin typeface="Century Gothic" panose="020B0502020202020204" pitchFamily="34" charset="0"/>
              </a:rPr>
              <a:t>One User to User Profile</a:t>
            </a:r>
          </a:p>
          <a:p>
            <a:r>
              <a:rPr lang="en-US" sz="1200" b="1" dirty="0">
                <a:latin typeface="Century Gothic" panose="020B0502020202020204" pitchFamily="34" charset="0"/>
              </a:rPr>
              <a:t>One to One Relationship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AEADB402-C828-53C2-3B63-1AB749232582}"/>
              </a:ext>
            </a:extLst>
          </p:cNvPr>
          <p:cNvCxnSpPr>
            <a:cxnSpLocks/>
          </p:cNvCxnSpPr>
          <p:nvPr/>
        </p:nvCxnSpPr>
        <p:spPr>
          <a:xfrm flipV="1">
            <a:off x="1333358" y="1501577"/>
            <a:ext cx="2226271" cy="14921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C5A49DC8-6324-0C9F-595D-31AD5A55EDC9}"/>
              </a:ext>
            </a:extLst>
          </p:cNvPr>
          <p:cNvCxnSpPr>
            <a:cxnSpLocks/>
          </p:cNvCxnSpPr>
          <p:nvPr/>
        </p:nvCxnSpPr>
        <p:spPr>
          <a:xfrm>
            <a:off x="1372965" y="4106638"/>
            <a:ext cx="3811356" cy="62689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EF703BB6-5EF5-4A0B-CA7E-53A1CD6E2FBF}"/>
              </a:ext>
            </a:extLst>
          </p:cNvPr>
          <p:cNvCxnSpPr>
            <a:cxnSpLocks/>
          </p:cNvCxnSpPr>
          <p:nvPr/>
        </p:nvCxnSpPr>
        <p:spPr>
          <a:xfrm flipV="1">
            <a:off x="2228850" y="5136984"/>
            <a:ext cx="2887285" cy="120857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CEFF41C-308E-15DE-D4D3-AD3952928C94}"/>
              </a:ext>
            </a:extLst>
          </p:cNvPr>
          <p:cNvSpPr txBox="1"/>
          <p:nvPr/>
        </p:nvSpPr>
        <p:spPr>
          <a:xfrm>
            <a:off x="8173689" y="3018668"/>
            <a:ext cx="2056160" cy="1169551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Book Request</a:t>
            </a: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effectLst/>
                <a:latin typeface="Century Gothic" panose="020B0502020202020204" pitchFamily="34" charset="0"/>
              </a:rPr>
              <a:t>user_id</a:t>
            </a:r>
            <a:r>
              <a:rPr lang="en-US" sz="1400" dirty="0">
                <a:effectLst/>
                <a:latin typeface="Century Gothic" panose="020B0502020202020204" pitchFamily="34" charset="0"/>
              </a:rPr>
              <a:t>(FK)</a:t>
            </a: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effectLst/>
                <a:latin typeface="Century Gothic" panose="020B0502020202020204" pitchFamily="34" charset="0"/>
              </a:rPr>
              <a:t>Book_id</a:t>
            </a:r>
            <a:r>
              <a:rPr lang="en-US" sz="1400" dirty="0">
                <a:effectLst/>
                <a:latin typeface="Century Gothic" panose="020B0502020202020204" pitchFamily="34" charset="0"/>
              </a:rPr>
              <a:t>(FK/M2M)</a:t>
            </a: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latin typeface="Century Gothic" panose="020B0502020202020204" pitchFamily="34" charset="0"/>
              </a:rPr>
              <a:t>Date_requested</a:t>
            </a:r>
            <a:endParaRPr lang="en-US" sz="1400" dirty="0">
              <a:latin typeface="Century Gothic" panose="020B0502020202020204" pitchFamily="34" charset="0"/>
            </a:endParaRP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Century Gothic" panose="020B0502020202020204" pitchFamily="34" charset="0"/>
              </a:rPr>
              <a:t>Return date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EF5361D4-AC32-2F28-BFA9-AEE650C0EA99}"/>
              </a:ext>
            </a:extLst>
          </p:cNvPr>
          <p:cNvCxnSpPr>
            <a:cxnSpLocks/>
            <a:stCxn id="7" idx="2"/>
          </p:cNvCxnSpPr>
          <p:nvPr/>
        </p:nvCxnSpPr>
        <p:spPr>
          <a:xfrm rot="16200000" flipH="1">
            <a:off x="4508923" y="-276586"/>
            <a:ext cx="528809" cy="680072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9E6359A1-6322-85F2-A76E-CB071E1FDFA0}"/>
              </a:ext>
            </a:extLst>
          </p:cNvPr>
          <p:cNvCxnSpPr>
            <a:stCxn id="13" idx="3"/>
            <a:endCxn id="29" idx="1"/>
          </p:cNvCxnSpPr>
          <p:nvPr/>
        </p:nvCxnSpPr>
        <p:spPr>
          <a:xfrm flipV="1">
            <a:off x="6912851" y="3603444"/>
            <a:ext cx="1260838" cy="94876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5C33A5A-CAE6-15C9-5A92-001418AC4B05}"/>
              </a:ext>
            </a:extLst>
          </p:cNvPr>
          <p:cNvSpPr txBox="1"/>
          <p:nvPr/>
        </p:nvSpPr>
        <p:spPr>
          <a:xfrm>
            <a:off x="3622563" y="0"/>
            <a:ext cx="4946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entury Gothic" panose="020B0502020202020204" pitchFamily="34" charset="0"/>
              </a:rPr>
              <a:t>LIBRARY MANAGEMENT SYSTEM DESIGN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FEC28D-984D-0677-A2FA-3559605744F3}"/>
              </a:ext>
            </a:extLst>
          </p:cNvPr>
          <p:cNvSpPr txBox="1"/>
          <p:nvPr/>
        </p:nvSpPr>
        <p:spPr>
          <a:xfrm>
            <a:off x="2938244" y="3818887"/>
            <a:ext cx="243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0088B5-31E5-63D7-E572-F5404DD17797}"/>
              </a:ext>
            </a:extLst>
          </p:cNvPr>
          <p:cNvSpPr txBox="1"/>
          <p:nvPr/>
        </p:nvSpPr>
        <p:spPr>
          <a:xfrm>
            <a:off x="4827133" y="4408139"/>
            <a:ext cx="243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A89A4B-97C0-2872-B6A3-35A1BDC8C5FA}"/>
              </a:ext>
            </a:extLst>
          </p:cNvPr>
          <p:cNvSpPr txBox="1"/>
          <p:nvPr/>
        </p:nvSpPr>
        <p:spPr>
          <a:xfrm>
            <a:off x="4827133" y="5136984"/>
            <a:ext cx="243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057EA5-DFFD-3A7C-4D9A-04425A118057}"/>
              </a:ext>
            </a:extLst>
          </p:cNvPr>
          <p:cNvSpPr txBox="1"/>
          <p:nvPr/>
        </p:nvSpPr>
        <p:spPr>
          <a:xfrm>
            <a:off x="2694782" y="5976229"/>
            <a:ext cx="243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E6E148-7EC5-368F-304B-23EC1B5230A1}"/>
              </a:ext>
            </a:extLst>
          </p:cNvPr>
          <p:cNvSpPr txBox="1"/>
          <p:nvPr/>
        </p:nvSpPr>
        <p:spPr>
          <a:xfrm>
            <a:off x="2116482" y="1648031"/>
            <a:ext cx="243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2EB584-1CE1-D7A0-ED39-5FD25DB4CD0C}"/>
              </a:ext>
            </a:extLst>
          </p:cNvPr>
          <p:cNvSpPr txBox="1"/>
          <p:nvPr/>
        </p:nvSpPr>
        <p:spPr>
          <a:xfrm>
            <a:off x="3278727" y="1088311"/>
            <a:ext cx="243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9EB10F-9D82-2C95-EE54-6EBD434917AA}"/>
              </a:ext>
            </a:extLst>
          </p:cNvPr>
          <p:cNvSpPr txBox="1"/>
          <p:nvPr/>
        </p:nvSpPr>
        <p:spPr>
          <a:xfrm>
            <a:off x="1377729" y="2834183"/>
            <a:ext cx="243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279F11-1BB4-BC45-D28A-6EC03434E89B}"/>
              </a:ext>
            </a:extLst>
          </p:cNvPr>
          <p:cNvSpPr txBox="1"/>
          <p:nvPr/>
        </p:nvSpPr>
        <p:spPr>
          <a:xfrm>
            <a:off x="7831590" y="3054712"/>
            <a:ext cx="243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8AB1FC-E3D4-01CC-B6BD-4D60A5052044}"/>
              </a:ext>
            </a:extLst>
          </p:cNvPr>
          <p:cNvSpPr txBox="1"/>
          <p:nvPr/>
        </p:nvSpPr>
        <p:spPr>
          <a:xfrm>
            <a:off x="7875117" y="3585237"/>
            <a:ext cx="243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DEBD52-9320-67B9-D11E-7F19E0736000}"/>
              </a:ext>
            </a:extLst>
          </p:cNvPr>
          <p:cNvSpPr txBox="1"/>
          <p:nvPr/>
        </p:nvSpPr>
        <p:spPr>
          <a:xfrm>
            <a:off x="6912851" y="4552207"/>
            <a:ext cx="565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1/M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618BCAD-DADB-904F-7DC7-0C6FA5FA0303}"/>
              </a:ext>
            </a:extLst>
          </p:cNvPr>
          <p:cNvSpPr/>
          <p:nvPr/>
        </p:nvSpPr>
        <p:spPr>
          <a:xfrm>
            <a:off x="343187" y="3585237"/>
            <a:ext cx="7331242" cy="3215613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632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BC97872-7FBC-5B0F-0EB3-5B85099A8FFA}"/>
              </a:ext>
            </a:extLst>
          </p:cNvPr>
          <p:cNvSpPr txBox="1"/>
          <p:nvPr/>
        </p:nvSpPr>
        <p:spPr>
          <a:xfrm>
            <a:off x="4611309" y="1369909"/>
            <a:ext cx="2158041" cy="138499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Author</a:t>
            </a: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Id</a:t>
            </a: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First Name</a:t>
            </a: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Last name</a:t>
            </a: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DOB</a:t>
            </a:r>
            <a:endParaRPr lang="en-US" sz="1400" dirty="0">
              <a:latin typeface="Century Gothic" panose="020B0502020202020204" pitchFamily="34" charset="0"/>
            </a:endParaRP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Year of Death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3D122F-494D-B787-C6E4-7CCA4D57C59F}"/>
              </a:ext>
            </a:extLst>
          </p:cNvPr>
          <p:cNvSpPr txBox="1"/>
          <p:nvPr/>
        </p:nvSpPr>
        <p:spPr>
          <a:xfrm>
            <a:off x="264978" y="1278811"/>
            <a:ext cx="1796716" cy="1600438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Books</a:t>
            </a: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id</a:t>
            </a: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Title</a:t>
            </a: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Isbn</a:t>
            </a:r>
            <a:endParaRPr lang="en-US" sz="1400" dirty="0">
              <a:latin typeface="Century Gothic" panose="020B0502020202020204" pitchFamily="34" charset="0"/>
            </a:endParaRP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Author (FK)</a:t>
            </a: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Published date</a:t>
            </a: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Genre (M2M)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2A754C-405F-64FB-0336-C9818AC1DF36}"/>
              </a:ext>
            </a:extLst>
          </p:cNvPr>
          <p:cNvSpPr txBox="1"/>
          <p:nvPr/>
        </p:nvSpPr>
        <p:spPr>
          <a:xfrm>
            <a:off x="4663078" y="4318860"/>
            <a:ext cx="1418006" cy="738664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Genre</a:t>
            </a: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Id(PK)</a:t>
            </a: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title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2FEAA4-83A7-EC7C-9E0E-10C7F68D38CE}"/>
              </a:ext>
            </a:extLst>
          </p:cNvPr>
          <p:cNvSpPr txBox="1"/>
          <p:nvPr/>
        </p:nvSpPr>
        <p:spPr>
          <a:xfrm>
            <a:off x="6912851" y="2079030"/>
            <a:ext cx="5023335" cy="646331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Century Gothic" panose="020B0502020202020204" pitchFamily="34" charset="0"/>
              </a:rPr>
              <a:t>Books that belong to Multiple Genre, One Genre can contain multiple Book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effectLst/>
                <a:latin typeface="Century Gothic" panose="020B0502020202020204" pitchFamily="34" charset="0"/>
              </a:rPr>
              <a:t>Many to Many Relationship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7A6237-F46D-7BDB-FBD8-838FEB4A01A6}"/>
              </a:ext>
            </a:extLst>
          </p:cNvPr>
          <p:cNvSpPr txBox="1"/>
          <p:nvPr/>
        </p:nvSpPr>
        <p:spPr>
          <a:xfrm>
            <a:off x="6912851" y="1501577"/>
            <a:ext cx="3978441" cy="46166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Century Gothic" panose="020B0502020202020204" pitchFamily="34" charset="0"/>
              </a:rPr>
              <a:t>Author that Wrote Multiple Books (FK)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effectLst/>
                <a:latin typeface="Century Gothic" panose="020B0502020202020204" pitchFamily="34" charset="0"/>
              </a:rPr>
              <a:t>One to Many Relationship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0F33DB-7C88-8BFA-74A2-73618A708FF7}"/>
              </a:ext>
            </a:extLst>
          </p:cNvPr>
          <p:cNvSpPr txBox="1"/>
          <p:nvPr/>
        </p:nvSpPr>
        <p:spPr>
          <a:xfrm>
            <a:off x="6912851" y="924124"/>
            <a:ext cx="2774566" cy="46166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latin typeface="Century Gothic" panose="020B0502020202020204" pitchFamily="34" charset="0"/>
              </a:rPr>
              <a:t>One User to User Profile</a:t>
            </a:r>
          </a:p>
          <a:p>
            <a:r>
              <a:rPr lang="en-US" sz="1200" b="1" dirty="0">
                <a:latin typeface="Century Gothic" panose="020B0502020202020204" pitchFamily="34" charset="0"/>
              </a:rPr>
              <a:t>One to One Relationship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5C33A5A-CAE6-15C9-5A92-001418AC4B05}"/>
              </a:ext>
            </a:extLst>
          </p:cNvPr>
          <p:cNvSpPr txBox="1"/>
          <p:nvPr/>
        </p:nvSpPr>
        <p:spPr>
          <a:xfrm>
            <a:off x="3622563" y="0"/>
            <a:ext cx="4946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entury Gothic" panose="020B0502020202020204" pitchFamily="34" charset="0"/>
              </a:rPr>
              <a:t>LIBRARY MANAGEMENT SYSTEM DESIGN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FEB2E7-1845-4DAC-D704-AC641C5E4850}"/>
              </a:ext>
            </a:extLst>
          </p:cNvPr>
          <p:cNvSpPr txBox="1"/>
          <p:nvPr/>
        </p:nvSpPr>
        <p:spPr>
          <a:xfrm>
            <a:off x="368491" y="3887973"/>
            <a:ext cx="1796716" cy="1600438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Books</a:t>
            </a: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id</a:t>
            </a: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Title</a:t>
            </a: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Isbn</a:t>
            </a:r>
            <a:endParaRPr lang="en-US" sz="1400" dirty="0">
              <a:latin typeface="Century Gothic" panose="020B0502020202020204" pitchFamily="34" charset="0"/>
            </a:endParaRP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Author (FK)</a:t>
            </a: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Published date</a:t>
            </a: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Genre (M2M)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4D4A19C-AC9A-352D-3CA7-2B1919F7AE4F}"/>
              </a:ext>
            </a:extLst>
          </p:cNvPr>
          <p:cNvCxnSpPr>
            <a:cxnSpLocks/>
          </p:cNvCxnSpPr>
          <p:nvPr/>
        </p:nvCxnSpPr>
        <p:spPr>
          <a:xfrm>
            <a:off x="2165207" y="4412146"/>
            <a:ext cx="249787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0CE4240-D8EF-CE03-A1FB-5F50B99F8A12}"/>
              </a:ext>
            </a:extLst>
          </p:cNvPr>
          <p:cNvCxnSpPr>
            <a:cxnSpLocks/>
          </p:cNvCxnSpPr>
          <p:nvPr/>
        </p:nvCxnSpPr>
        <p:spPr>
          <a:xfrm flipH="1">
            <a:off x="2165207" y="4903848"/>
            <a:ext cx="249787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DDB240C-6844-702F-59FA-468EBB6F5D87}"/>
              </a:ext>
            </a:extLst>
          </p:cNvPr>
          <p:cNvCxnSpPr>
            <a:cxnSpLocks/>
          </p:cNvCxnSpPr>
          <p:nvPr/>
        </p:nvCxnSpPr>
        <p:spPr>
          <a:xfrm>
            <a:off x="2087566" y="1867353"/>
            <a:ext cx="249787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E28A31D-4F27-429C-BDD0-4C4764D70065}"/>
              </a:ext>
            </a:extLst>
          </p:cNvPr>
          <p:cNvCxnSpPr>
            <a:cxnSpLocks/>
          </p:cNvCxnSpPr>
          <p:nvPr/>
        </p:nvCxnSpPr>
        <p:spPr>
          <a:xfrm flipH="1">
            <a:off x="2087566" y="2359055"/>
            <a:ext cx="249787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C60263B-5B7E-98C5-59CF-EEE78AA0D4F5}"/>
              </a:ext>
            </a:extLst>
          </p:cNvPr>
          <p:cNvSpPr txBox="1"/>
          <p:nvPr/>
        </p:nvSpPr>
        <p:spPr>
          <a:xfrm>
            <a:off x="2238771" y="1528693"/>
            <a:ext cx="21618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entury Gothic" panose="020B0502020202020204" pitchFamily="34" charset="0"/>
              </a:rPr>
              <a:t>(FK)Forward Relationship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068D3A4-F665-FA39-C415-5C5653F76C22}"/>
              </a:ext>
            </a:extLst>
          </p:cNvPr>
          <p:cNvSpPr txBox="1"/>
          <p:nvPr/>
        </p:nvSpPr>
        <p:spPr>
          <a:xfrm>
            <a:off x="2415567" y="2409549"/>
            <a:ext cx="19680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entury Gothic" panose="020B0502020202020204" pitchFamily="34" charset="0"/>
              </a:rPr>
              <a:t>(FK)Reverse Relationship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4231032-1729-9476-B596-242232381A83}"/>
              </a:ext>
            </a:extLst>
          </p:cNvPr>
          <p:cNvSpPr txBox="1"/>
          <p:nvPr/>
        </p:nvSpPr>
        <p:spPr>
          <a:xfrm>
            <a:off x="2238772" y="4027796"/>
            <a:ext cx="24243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entury Gothic" panose="020B0502020202020204" pitchFamily="34" charset="0"/>
              </a:rPr>
              <a:t>(M2M) Forward Relationship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A85251C-E359-4BDE-83CA-D35114761D30}"/>
              </a:ext>
            </a:extLst>
          </p:cNvPr>
          <p:cNvSpPr txBox="1"/>
          <p:nvPr/>
        </p:nvSpPr>
        <p:spPr>
          <a:xfrm>
            <a:off x="3167744" y="4955639"/>
            <a:ext cx="6956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entury Gothic" panose="020B0502020202020204" pitchFamily="34" charset="0"/>
              </a:rPr>
              <a:t>(M2M)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DDE9E01-BAC1-3E45-C026-E52F3A3B2D43}"/>
              </a:ext>
            </a:extLst>
          </p:cNvPr>
          <p:cNvSpPr txBox="1"/>
          <p:nvPr/>
        </p:nvSpPr>
        <p:spPr>
          <a:xfrm>
            <a:off x="2415567" y="1154956"/>
            <a:ext cx="1808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Select_related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8A1BABF-E088-2AD4-752C-F48C0855DB76}"/>
              </a:ext>
            </a:extLst>
          </p:cNvPr>
          <p:cNvSpPr txBox="1"/>
          <p:nvPr/>
        </p:nvSpPr>
        <p:spPr>
          <a:xfrm>
            <a:off x="2466921" y="2639428"/>
            <a:ext cx="1968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Prefetch_related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5153CF1-4FA2-DEE2-1107-9506626C2A7D}"/>
              </a:ext>
            </a:extLst>
          </p:cNvPr>
          <p:cNvSpPr txBox="1"/>
          <p:nvPr/>
        </p:nvSpPr>
        <p:spPr>
          <a:xfrm>
            <a:off x="2933333" y="4503526"/>
            <a:ext cx="1146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prefetch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66943FF-D950-795F-E03F-DDEA16259C7B}"/>
              </a:ext>
            </a:extLst>
          </p:cNvPr>
          <p:cNvSpPr txBox="1"/>
          <p:nvPr/>
        </p:nvSpPr>
        <p:spPr>
          <a:xfrm>
            <a:off x="9998318" y="3990708"/>
            <a:ext cx="1825191" cy="138499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User Profile</a:t>
            </a: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 err="1">
                <a:effectLst/>
                <a:latin typeface="Century Gothic" panose="020B0502020202020204" pitchFamily="34" charset="0"/>
              </a:rPr>
              <a:t>user</a:t>
            </a:r>
            <a:r>
              <a:rPr lang="en-US" sz="1400" dirty="0" err="1">
                <a:latin typeface="Century Gothic" panose="020B0502020202020204" pitchFamily="34" charset="0"/>
              </a:rPr>
              <a:t>_</a:t>
            </a:r>
            <a:r>
              <a:rPr lang="en-US" sz="1400" dirty="0" err="1">
                <a:effectLst/>
                <a:latin typeface="Century Gothic" panose="020B0502020202020204" pitchFamily="34" charset="0"/>
              </a:rPr>
              <a:t>id</a:t>
            </a:r>
            <a:r>
              <a:rPr lang="en-US" sz="1400" dirty="0">
                <a:effectLst/>
                <a:latin typeface="Century Gothic" panose="020B0502020202020204" pitchFamily="34" charset="0"/>
              </a:rPr>
              <a:t>(1to1)</a:t>
            </a:r>
            <a:endParaRPr lang="en-US" sz="1400" dirty="0">
              <a:latin typeface="Century Gothic" panose="020B0502020202020204" pitchFamily="34" charset="0"/>
            </a:endParaRP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Address</a:t>
            </a:r>
            <a:endParaRPr lang="en-US" sz="1400" dirty="0">
              <a:latin typeface="Century Gothic" panose="020B0502020202020204" pitchFamily="34" charset="0"/>
            </a:endParaRP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City</a:t>
            </a:r>
            <a:endParaRPr lang="en-US" sz="1400" dirty="0">
              <a:latin typeface="Century Gothic" panose="020B0502020202020204" pitchFamily="34" charset="0"/>
            </a:endParaRP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Country</a:t>
            </a:r>
            <a:endParaRPr lang="en-US" sz="1400" dirty="0">
              <a:latin typeface="Century Gothic" panose="020B0502020202020204" pitchFamily="34" charset="0"/>
            </a:endParaRP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Phone number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A36F26F-BDB6-410A-52F4-0A8003AF476C}"/>
              </a:ext>
            </a:extLst>
          </p:cNvPr>
          <p:cNvSpPr txBox="1"/>
          <p:nvPr/>
        </p:nvSpPr>
        <p:spPr>
          <a:xfrm>
            <a:off x="6240577" y="3882986"/>
            <a:ext cx="2059557" cy="1600438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Users records</a:t>
            </a: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Id(pk)</a:t>
            </a: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Century Gothic" panose="020B0502020202020204" pitchFamily="34" charset="0"/>
              </a:rPr>
              <a:t>Username</a:t>
            </a: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Century Gothic" panose="020B0502020202020204" pitchFamily="34" charset="0"/>
              </a:rPr>
              <a:t>email</a:t>
            </a: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First Name</a:t>
            </a: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Last name</a:t>
            </a: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Century Gothic" panose="020B0502020202020204" pitchFamily="34" charset="0"/>
              </a:rPr>
              <a:t>Password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200A5C8-9543-C955-6892-B2EC968B7FE1}"/>
              </a:ext>
            </a:extLst>
          </p:cNvPr>
          <p:cNvCxnSpPr>
            <a:cxnSpLocks/>
            <a:stCxn id="49" idx="3"/>
            <a:endCxn id="48" idx="1"/>
          </p:cNvCxnSpPr>
          <p:nvPr/>
        </p:nvCxnSpPr>
        <p:spPr>
          <a:xfrm>
            <a:off x="8300134" y="4683205"/>
            <a:ext cx="1698184" cy="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A2A599F8-AC9B-9892-7B66-E81011845A15}"/>
              </a:ext>
            </a:extLst>
          </p:cNvPr>
          <p:cNvSpPr txBox="1"/>
          <p:nvPr/>
        </p:nvSpPr>
        <p:spPr>
          <a:xfrm>
            <a:off x="8300134" y="3467307"/>
            <a:ext cx="1808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Select_related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194BA93-BAEE-15A8-EF84-B7D919C46F91}"/>
              </a:ext>
            </a:extLst>
          </p:cNvPr>
          <p:cNvSpPr txBox="1"/>
          <p:nvPr/>
        </p:nvSpPr>
        <p:spPr>
          <a:xfrm>
            <a:off x="8212365" y="4780525"/>
            <a:ext cx="18960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entury Gothic" panose="020B0502020202020204" pitchFamily="34" charset="0"/>
              </a:rPr>
              <a:t>One2One Relationship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1061CED-1DD4-5BD2-1DFD-B17C90300022}"/>
              </a:ext>
            </a:extLst>
          </p:cNvPr>
          <p:cNvSpPr txBox="1"/>
          <p:nvPr/>
        </p:nvSpPr>
        <p:spPr>
          <a:xfrm>
            <a:off x="2238771" y="2980682"/>
            <a:ext cx="36068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all_author</a:t>
            </a:r>
            <a:r>
              <a:rPr lang="en-US" sz="1100" dirty="0"/>
              <a:t>=</a:t>
            </a:r>
            <a:r>
              <a:rPr lang="en-US" sz="1100" dirty="0" err="1"/>
              <a:t>Author.objects.all</a:t>
            </a:r>
            <a:r>
              <a:rPr lang="en-US" sz="1100" dirty="0"/>
              <a:t>().</a:t>
            </a:r>
            <a:r>
              <a:rPr lang="en-US" sz="1100" dirty="0" err="1"/>
              <a:t>prefetch_related</a:t>
            </a:r>
            <a:r>
              <a:rPr lang="en-US" sz="1100" dirty="0"/>
              <a:t>(“book”)</a:t>
            </a:r>
          </a:p>
          <a:p>
            <a:r>
              <a:rPr lang="en-US" sz="1100" dirty="0" err="1"/>
              <a:t>all_author.book_set.all</a:t>
            </a:r>
            <a:endParaRPr lang="en-US" sz="11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EC7F953-53F2-DF21-7EB3-72DF4CA06F57}"/>
              </a:ext>
            </a:extLst>
          </p:cNvPr>
          <p:cNvSpPr txBox="1"/>
          <p:nvPr/>
        </p:nvSpPr>
        <p:spPr>
          <a:xfrm>
            <a:off x="4948916" y="632440"/>
            <a:ext cx="7078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 Author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E8D27E3-551F-32A6-6840-2C35CD1980D2}"/>
              </a:ext>
            </a:extLst>
          </p:cNvPr>
          <p:cNvSpPr txBox="1"/>
          <p:nvPr/>
        </p:nvSpPr>
        <p:spPr>
          <a:xfrm>
            <a:off x="368491" y="685215"/>
            <a:ext cx="9786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Many books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8F3E519-2B07-54D3-7A56-5C88657EC8E2}"/>
              </a:ext>
            </a:extLst>
          </p:cNvPr>
          <p:cNvSpPr txBox="1"/>
          <p:nvPr/>
        </p:nvSpPr>
        <p:spPr>
          <a:xfrm>
            <a:off x="1928858" y="877851"/>
            <a:ext cx="34689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All_books</a:t>
            </a:r>
            <a:r>
              <a:rPr lang="en-US" sz="1100" dirty="0"/>
              <a:t>=</a:t>
            </a:r>
            <a:r>
              <a:rPr lang="en-US" sz="1100" dirty="0" err="1"/>
              <a:t>Book.objects.all</a:t>
            </a:r>
            <a:r>
              <a:rPr lang="en-US" sz="1100" dirty="0"/>
              <a:t>().</a:t>
            </a:r>
            <a:r>
              <a:rPr lang="en-US" sz="1100" dirty="0" err="1"/>
              <a:t>select_related</a:t>
            </a:r>
            <a:r>
              <a:rPr lang="en-US" sz="1100" dirty="0"/>
              <a:t>(“author”)</a:t>
            </a:r>
          </a:p>
          <a:p>
            <a:r>
              <a:rPr lang="en-US" sz="1100" dirty="0" err="1"/>
              <a:t>All_books.author</a:t>
            </a:r>
            <a:endParaRPr lang="en-US" sz="11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7522A4C-C39C-D313-5875-6DF5B517A0D5}"/>
              </a:ext>
            </a:extLst>
          </p:cNvPr>
          <p:cNvSpPr txBox="1"/>
          <p:nvPr/>
        </p:nvSpPr>
        <p:spPr>
          <a:xfrm>
            <a:off x="2392325" y="300306"/>
            <a:ext cx="18315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 Author= [a list of books]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690828C-2988-8865-DA93-CCF9B9667E69}"/>
              </a:ext>
            </a:extLst>
          </p:cNvPr>
          <p:cNvSpPr txBox="1"/>
          <p:nvPr/>
        </p:nvSpPr>
        <p:spPr>
          <a:xfrm>
            <a:off x="2016558" y="5627214"/>
            <a:ext cx="50151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All_books</a:t>
            </a:r>
            <a:r>
              <a:rPr lang="en-US" sz="1100" dirty="0"/>
              <a:t>=</a:t>
            </a:r>
            <a:r>
              <a:rPr lang="en-US" sz="1100" dirty="0" err="1"/>
              <a:t>Book.objects.all</a:t>
            </a:r>
            <a:r>
              <a:rPr lang="en-US" sz="1100" dirty="0"/>
              <a:t>().</a:t>
            </a:r>
            <a:r>
              <a:rPr lang="en-US" sz="1100" dirty="0" err="1"/>
              <a:t>select_related</a:t>
            </a:r>
            <a:r>
              <a:rPr lang="en-US" sz="1100" dirty="0"/>
              <a:t>(“author”).</a:t>
            </a:r>
            <a:r>
              <a:rPr lang="en-US" sz="1100" dirty="0" err="1"/>
              <a:t>prefetch_related</a:t>
            </a:r>
            <a:r>
              <a:rPr lang="en-US" sz="1100" dirty="0"/>
              <a:t>(“genre”)</a:t>
            </a:r>
          </a:p>
          <a:p>
            <a:endParaRPr lang="en-US" sz="1100" dirty="0"/>
          </a:p>
          <a:p>
            <a:r>
              <a:rPr lang="en-US" sz="1100" dirty="0"/>
              <a:t>For genre in </a:t>
            </a:r>
            <a:r>
              <a:rPr lang="en-US" sz="1100" dirty="0" err="1"/>
              <a:t>all_books.genre</a:t>
            </a:r>
            <a:r>
              <a:rPr lang="en-US" sz="1100" dirty="0"/>
              <a:t>:</a:t>
            </a:r>
          </a:p>
          <a:p>
            <a:r>
              <a:rPr lang="en-US" sz="1100" dirty="0"/>
              <a:t>	genre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16896D7-8AB2-8857-796A-B880918F81B8}"/>
              </a:ext>
            </a:extLst>
          </p:cNvPr>
          <p:cNvSpPr txBox="1"/>
          <p:nvPr/>
        </p:nvSpPr>
        <p:spPr>
          <a:xfrm>
            <a:off x="7630472" y="5637493"/>
            <a:ext cx="41138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all_userprofile</a:t>
            </a:r>
            <a:r>
              <a:rPr lang="en-US" sz="1100" dirty="0"/>
              <a:t>=</a:t>
            </a:r>
            <a:r>
              <a:rPr lang="en-US" sz="1100" dirty="0" err="1"/>
              <a:t>UserProfile.objects.all</a:t>
            </a:r>
            <a:r>
              <a:rPr lang="en-US" sz="1100" dirty="0"/>
              <a:t>().</a:t>
            </a:r>
            <a:r>
              <a:rPr lang="en-US" sz="1100" dirty="0" err="1"/>
              <a:t>select_related</a:t>
            </a:r>
            <a:r>
              <a:rPr lang="en-US" sz="1100" dirty="0"/>
              <a:t>(“user”)</a:t>
            </a:r>
          </a:p>
        </p:txBody>
      </p:sp>
    </p:spTree>
    <p:extLst>
      <p:ext uri="{BB962C8B-B14F-4D97-AF65-F5344CB8AC3E}">
        <p14:creationId xmlns:p14="http://schemas.microsoft.com/office/powerpoint/2010/main" val="3214002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381</Words>
  <Application>Microsoft Office PowerPoint</Application>
  <PresentationFormat>Widescreen</PresentationFormat>
  <Paragraphs>115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Century Gothic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Chiko  Liu</dc:creator>
  <cp:lastModifiedBy>Chiko  Liu</cp:lastModifiedBy>
  <cp:revision>3</cp:revision>
  <dcterms:created xsi:type="dcterms:W3CDTF">2026-09-28T08:47:55Z</dcterms:created>
  <dcterms:modified xsi:type="dcterms:W3CDTF">2026-10-07T17:10:25Z</dcterms:modified>
</cp:coreProperties>
</file>